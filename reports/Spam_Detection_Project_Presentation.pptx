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89B4FA"/>
                </a:solidFill>
              </a:rPr>
              <a:t>Spam Email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CCCCCC"/>
                </a:solidFill>
              </a:rPr>
              <a:t>Using SMS Spam Collection Dataset (UCI / Kaggle)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Python for Data Science (PDS)  |  Academic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657600"/>
            <a:ext cx="67025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9B4FA"/>
                </a:solidFill>
              </a:rPr>
              <a:t>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Yashraj  |  Vishwajeet  |  Krisha  |  Akshat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486400" cy="22860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🎯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• Classify SMS messages as SPAM or HAM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Build a reproducible ML pipeline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Document every decision for viva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00" cy="22860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43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📦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• UCI SMS Spam Collection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~5,572 SMS messages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Columns: label (v1), message (v2)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57600"/>
            <a:ext cx="5486400" cy="22860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🛠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60520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• Python 3.10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pandas, numpy, scikit-learn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NLTK, matplotlib, seaborn, wordcloud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5486400" cy="22860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703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📋 Phases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160520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• Phase 1: Setup &amp; Audit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Phase 2: EDA &amp; Preprocessing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Phase 3+: Modelling &amp; Evaluation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9B4FA"/>
                </a:solidFill>
              </a:rPr>
              <a:t>Phase 1 — Project Setup &amp; Dataset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CCCC"/>
                </a:solidFill>
              </a:rPr>
              <a:t>What was done: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  ✔  Initialized git repo, set up .gitignore, pushed to GitHub</a:t>
            </a:r>
          </a:p>
          <a:p>
            <a:pPr>
              <a:defRPr sz="1300">
                <a:solidFill>
                  <a:srgbClr val="CCCCCC"/>
                </a:solidFill>
              </a:defRPr>
            </a:pPr>
            <a:r>
              <a:t>  ✔  Created requirements.txt with pinned dependencies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✔  Built config.py with all centralized constants (RANDOM_STATE, LABEL_MAP, paths...)</a:t>
            </a:r>
          </a:p>
          <a:p>
            <a:pPr>
              <a:defRPr sz="1300">
                <a:solidFill>
                  <a:srgbClr val="CCCCCC"/>
                </a:solidFill>
              </a:defRPr>
            </a:pPr>
            <a:r>
              <a:t>  ✔  Loaded raw spam.csv (latin-1 encoding), dropped 3 unnamed artefact columns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✔  Renamed v1 → label, v2 → message</a:t>
            </a:r>
          </a:p>
          <a:p>
            <a:pPr>
              <a:defRPr sz="1300">
                <a:solidFill>
                  <a:srgbClr val="CCCCCC"/>
                </a:solidFill>
              </a:defRPr>
            </a:pPr>
            <a:r>
              <a:t>  ✔  Null audit: 0 nulls found | Duplicate audit: 415 exact duplicates removed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✔  Label encoding: ham=0, spam=1 via LABEL_MAP from config.py</a:t>
            </a:r>
          </a:p>
          <a:p>
            <a:pPr>
              <a:defRPr sz="1300">
                <a:solidFill>
                  <a:srgbClr val="CCCCCC"/>
                </a:solidFill>
              </a:defRPr>
            </a:pPr>
            <a:r>
              <a:t>  ✔  4 integrity assertions run before save | Output: data/processed/clean_data.csv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005840"/>
            <a:ext cx="3749039" cy="52120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0972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9B4FA"/>
                </a:solidFill>
              </a:rPr>
              <a:t>Dataset Stats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645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Total Rows (raw)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1645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A6E3A1"/>
                </a:solidFill>
              </a:rPr>
              <a:t>5,572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3591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After Dedup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23591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A6E3A1"/>
                </a:solidFill>
              </a:rPr>
              <a:t>5,157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07238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HAM  (0)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307238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A6E3A1"/>
                </a:solidFill>
              </a:rPr>
              <a:t>4,516  (87.4%)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78561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SPAM 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378561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A6E3A1"/>
                </a:solidFill>
              </a:rPr>
              <a:t>  641  (12.4%)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988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Nulls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44988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A6E3A1"/>
                </a:solidFill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212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Output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5212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A6E3A1"/>
                </a:solidFill>
              </a:rPr>
              <a:t>clean_data.csv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9B4FA"/>
                </a:solidFill>
              </a:rPr>
              <a:t>Phase 2 — EDA &amp; Text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760720" cy="26517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🔧 Text Cleaning Pipeline (clean_text)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5486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• Lowercase → (optional) digit strip → tokenize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Remove English stopwords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Remove punctuation tokens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Lemmatize with WordNetLemmatizer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Default: remove_numbers=False (digits are spam signals)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749039"/>
            <a:ext cx="5760720" cy="26517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79475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📊 EDA Visualizations Generated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251959"/>
            <a:ext cx="5486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• Class distribution bar + pie chart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Message length violin plots (chars &amp; words)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Word clouds: SPAM vs HAM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Top-20 most frequent words per class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Mean signal features grouped bar chart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669280" cy="53949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🔢 Engineered Features (on raw 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• msg_length_chars  — character count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msg_length_words  — word count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has_url           — URL/hyperlink present?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has_currency      — $, £, ₹ present?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digit_count       — number of digits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digit_ratio       — digits / total chars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uppercase_word_count — ALL-CAPS words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• exclamation_count — !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4652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Output: data/processed/eda_ready.csv  |  5 PNG figures saved to reports/figures/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Team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005840"/>
            <a:ext cx="2834640" cy="53949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2834640" cy="6400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38BA8"/>
                </a:solidFill>
              </a:rPr>
              <a:t>Yashraj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087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</a:rPr>
              <a:t>⭐ Most Complex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83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ML Lead  |  Integration Lead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148840"/>
            <a:ext cx="2468880" cy="27432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2240280"/>
            <a:ext cx="261518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CCCCCC"/>
                </a:solidFill>
              </a:defRPr>
            </a:pPr>
            <a:r>
              <a:t>• Project architecture &amp; repo setup</a:t>
            </a:r>
          </a:p>
          <a:p>
            <a:pPr>
              <a:defRPr sz="1050">
                <a:solidFill>
                  <a:srgbClr val="CCCCCC"/>
                </a:solidFill>
              </a:defRPr>
            </a:pPr>
            <a:r>
              <a:t>• config.py: all centralized constants</a:t>
            </a:r>
          </a:p>
          <a:p>
            <a:pPr>
              <a:defRPr sz="1050">
                <a:solidFill>
                  <a:srgbClr val="CCCCCC"/>
                </a:solidFill>
              </a:defRPr>
            </a:pPr>
            <a:r>
              <a:t>• sklearn Pipeline design (Phase 3)</a:t>
            </a:r>
          </a:p>
          <a:p>
            <a:pPr>
              <a:defRPr sz="1050">
                <a:solidFill>
                  <a:srgbClr val="CCCCCC"/>
                </a:solidFill>
              </a:defRPr>
            </a:pPr>
            <a:r>
              <a:t>• Model training: Naive Bayes + Logistic Regression</a:t>
            </a:r>
          </a:p>
          <a:p>
            <a:pPr>
              <a:defRPr sz="1050">
                <a:solidFill>
                  <a:srgbClr val="CCCCCC"/>
                </a:solidFill>
              </a:defRPr>
            </a:pPr>
            <a:r>
              <a:t>• Train-test split &amp; leakage prevention</a:t>
            </a:r>
          </a:p>
          <a:p>
            <a:pPr>
              <a:defRPr sz="1050">
                <a:solidFill>
                  <a:srgbClr val="CCCCCC"/>
                </a:solidFill>
              </a:defRPr>
            </a:pPr>
            <a:r>
              <a:t>• Final integration &amp; git commit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834640" cy="53949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9544" y="1005840"/>
            <a:ext cx="2834640" cy="64008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00984" y="1097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AB387"/>
                </a:solidFill>
              </a:rPr>
              <a:t>Vishwajeet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0984" y="15087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</a:rPr>
              <a:t>🔬 Advanced NLP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0984" y="1783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NLP Specialist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2424" y="2148840"/>
            <a:ext cx="2468880" cy="27432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9272" y="2240280"/>
            <a:ext cx="261518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CCCCCC"/>
                </a:solidFill>
              </a:defRPr>
            </a:pPr>
            <a:r>
              <a:t>• src/preprocessing.py — clean_text() pipeline</a:t>
            </a:r>
          </a:p>
          <a:p>
            <a:pPr>
              <a:defRPr sz="1050">
                <a:solidFill>
                  <a:srgbClr val="CCCCCC"/>
                </a:solidFill>
              </a:defRPr>
            </a:pPr>
            <a:r>
              <a:t>• NLTK resource management (nltk_setup.py)</a:t>
            </a:r>
          </a:p>
          <a:p>
            <a:pPr>
              <a:defRPr sz="1050">
                <a:solidFill>
                  <a:srgbClr val="CCCCCC"/>
                </a:solidFill>
              </a:defRPr>
            </a:pPr>
            <a:r>
              <a:t>• Lemmatization vs stemming decision</a:t>
            </a:r>
          </a:p>
          <a:p>
            <a:pPr>
              <a:defRPr sz="1050">
                <a:solidFill>
                  <a:srgbClr val="CCCCCC"/>
                </a:solidFill>
              </a:defRPr>
            </a:pPr>
            <a:r>
              <a:t>• apply_cleaning() vectorised wrapper</a:t>
            </a:r>
          </a:p>
          <a:p>
            <a:pPr>
              <a:defRPr sz="1050">
                <a:solidFill>
                  <a:srgbClr val="CCCCCC"/>
                </a:solidFill>
              </a:defRPr>
            </a:pPr>
            <a:r>
              <a:t>• Text cleaning in notebook 02 (Cell 4)</a:t>
            </a:r>
          </a:p>
          <a:p>
            <a:pPr>
              <a:defRPr sz="1050">
                <a:solidFill>
                  <a:srgbClr val="CCCCCC"/>
                </a:solidFill>
              </a:defRPr>
            </a:pPr>
            <a:r>
              <a:t>• Environment &amp; import setup (Cell 1, NB02)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1005840"/>
            <a:ext cx="2834640" cy="53949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1005840"/>
            <a:ext cx="2834640" cy="64008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1097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9E2AF"/>
                </a:solidFill>
              </a:rPr>
              <a:t>Krisha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15087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</a:rPr>
              <a:t>📊 Data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1783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EDA Lead  |  Feature Engineer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73368" y="2148840"/>
            <a:ext cx="2468880" cy="27432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216" y="2240280"/>
            <a:ext cx="261518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CCCCCC"/>
                </a:solidFill>
              </a:defRPr>
            </a:pPr>
            <a:r>
              <a:t>• 8 signal feature columns (Cell 3, NB02)</a:t>
            </a:r>
          </a:p>
          <a:p>
            <a:pPr>
              <a:defRPr sz="1050">
                <a:solidFill>
                  <a:srgbClr val="CCCCCC"/>
                </a:solidFill>
              </a:defRPr>
            </a:pPr>
            <a:r>
              <a:t>• Word cloud visualisations (spam vs ham)</a:t>
            </a:r>
          </a:p>
          <a:p>
            <a:pPr>
              <a:defRPr sz="1050">
                <a:solidFill>
                  <a:srgbClr val="CCCCCC"/>
                </a:solidFill>
              </a:defRPr>
            </a:pPr>
            <a:r>
              <a:t>• Top-20 word frequency bar charts</a:t>
            </a:r>
          </a:p>
          <a:p>
            <a:pPr>
              <a:defRPr sz="1050">
                <a:solidFill>
                  <a:srgbClr val="CCCCCC"/>
                </a:solidFill>
              </a:defRPr>
            </a:pPr>
            <a:r>
              <a:t>• Label distribution analysis (NB01)</a:t>
            </a:r>
          </a:p>
          <a:p>
            <a:pPr>
              <a:defRPr sz="1050">
                <a:solidFill>
                  <a:srgbClr val="CCCCCC"/>
                </a:solidFill>
              </a:defRPr>
            </a:pPr>
            <a:r>
              <a:t>• Raw text length statistics (Cell 5b, NB01)</a:t>
            </a:r>
          </a:p>
          <a:p>
            <a:pPr>
              <a:defRPr sz="1050">
                <a:solidFill>
                  <a:srgbClr val="CCCCCC"/>
                </a:solidFill>
              </a:defRPr>
            </a:pPr>
            <a:r>
              <a:t>• docs/preprocessing_notes.md authoring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71432" y="1005840"/>
            <a:ext cx="2834640" cy="53949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71432" y="1005840"/>
            <a:ext cx="2834640" cy="64008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1097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6E3A1"/>
                </a:solidFill>
              </a:rPr>
              <a:t>Akshat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15087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</a:rPr>
              <a:t>📁 Foundation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1783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Data Lead  |  Documentation Lead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54312" y="2148840"/>
            <a:ext cx="2468880" cy="27432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2240280"/>
            <a:ext cx="261518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CCCCCC"/>
                </a:solidFill>
              </a:defRPr>
            </a:pPr>
            <a:r>
              <a:t>• Data ingestion &amp; column renaming (NB01)</a:t>
            </a:r>
          </a:p>
          <a:p>
            <a:pPr>
              <a:defRPr sz="1050">
                <a:solidFill>
                  <a:srgbClr val="CCCCCC"/>
                </a:solidFill>
              </a:defRPr>
            </a:pPr>
            <a:r>
              <a:t>• Null &amp; duplicate audit (NB01)</a:t>
            </a:r>
          </a:p>
          <a:p>
            <a:pPr>
              <a:defRPr sz="1050">
                <a:solidFill>
                  <a:srgbClr val="CCCCCC"/>
                </a:solidFill>
              </a:defRPr>
            </a:pPr>
            <a:r>
              <a:t>• Label encoding via LABEL_MAP (NB01)</a:t>
            </a:r>
          </a:p>
          <a:p>
            <a:pPr>
              <a:defRPr sz="1050">
                <a:solidFill>
                  <a:srgbClr val="CCCCCC"/>
                </a:solidFill>
              </a:defRPr>
            </a:pPr>
            <a:r>
              <a:t>• Phase 1 &amp; 2 final QC + CSV saves</a:t>
            </a:r>
          </a:p>
          <a:p>
            <a:pPr>
              <a:defRPr sz="1050">
                <a:solidFill>
                  <a:srgbClr val="CCCCCC"/>
                </a:solidFill>
              </a:defRPr>
            </a:pPr>
            <a:r>
              <a:t>• docs/data_dictionary.md authoring</a:t>
            </a:r>
          </a:p>
          <a:p>
            <a:pPr>
              <a:defRPr sz="1050">
                <a:solidFill>
                  <a:srgbClr val="CCCCCC"/>
                </a:solidFill>
              </a:defRPr>
            </a:pPr>
            <a:r>
              <a:t>• docs/project_charter.md authoring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Repo Structure &amp; Tools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669280" cy="53949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📁 Folder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53949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spamemaildetection/
├── config.py
├── requirements.txt
├── README.md
├── .gitignore
├── data/
│   ├── raw/spam.csv         (gitignored)
│   └── processed/
│       ├── clean_data.csv   (Phase 1 output)
│       └── eda_ready.csv    (Phase 2 output)
├── notebooks/
│   ├── 01_data_setup_and_audit.ipynb
│   └── 02_eda.ipynb
├── src/
│   ├── preprocessing.py
│   └── nltk_setup.py
├── docs/
│   ├── data_dictionary.md
│   ├── project_charter.md
│   └── preprocessing_notes.md
└── reports/figures/    (5 PNG charts)
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669280" cy="53949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97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🛠 Libraries &amp;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1645920" cy="384048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824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9B4FA"/>
                </a:solidFill>
              </a:rPr>
              <a:t>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6824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Data loading, cleaning, manipulation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03120"/>
            <a:ext cx="1645920" cy="384048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1396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9B4FA"/>
                </a:solidFill>
              </a:rPr>
              <a:t>numpy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396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Numerical operations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560320"/>
            <a:ext cx="1645920" cy="384048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5968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9B4FA"/>
                </a:solidFill>
              </a:rPr>
              <a:t>scikit-learn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5968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ML pipeline (Phase 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017520"/>
            <a:ext cx="1645920" cy="384048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0540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9B4FA"/>
                </a:solidFill>
              </a:rPr>
              <a:t>NLTK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0540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Tokenization, lemmatization, stopwords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474720"/>
            <a:ext cx="1645920" cy="384048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5112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9B4FA"/>
                </a:solidFill>
              </a:rPr>
              <a:t>matplotlib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5112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Charts and visualisations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931920"/>
            <a:ext cx="1645920" cy="384048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9684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9B4FA"/>
                </a:solidFill>
              </a:rPr>
              <a:t>seaborn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9684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Statistical plot themes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389120"/>
            <a:ext cx="1645920" cy="384048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4256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9B4FA"/>
                </a:solidFill>
              </a:rPr>
              <a:t>wordcloud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4256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Word cloud generation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846320"/>
            <a:ext cx="1645920" cy="384048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8828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9B4FA"/>
                </a:solidFill>
              </a:rPr>
              <a:t>joblib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8828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Model serialization (Phase 3)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303520"/>
            <a:ext cx="1645920" cy="384048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3400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9B4FA"/>
                </a:solidFill>
              </a:rPr>
              <a:t>Jupyter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53400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Interactive notebook environment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5760720"/>
            <a:ext cx="1645920" cy="384048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57972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9B4FA"/>
                </a:solidFill>
              </a:rPr>
              <a:t>Git / GitHub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7972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Version control &amp; collaboration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Key Findings from EDA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669280" cy="16916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4864" cy="169164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8BA8"/>
                </a:solidFill>
              </a:rPr>
              <a:t>⚠️ Class Imbalance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87.4% HAM vs 12.4% SPAM (6.9:1 ratio). Accuracy alone is misleading — F1-score and Recall will be used.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51560"/>
            <a:ext cx="5669280" cy="16916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51560"/>
            <a:ext cx="54864" cy="169164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1430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</a:rPr>
              <a:t>📏 Message Length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544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SPAM messages are significantly longer on average. Char count and word count are strong discriminative features.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80360"/>
            <a:ext cx="5669280" cy="16916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80360"/>
            <a:ext cx="54864" cy="169164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9718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B387"/>
                </a:solidFill>
              </a:rPr>
              <a:t>🔗 URL &amp; Currency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3832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SPAM messages are ~14× more likely to contain URLs and ~30× more likely to contain currency symbols (£, $).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880360"/>
            <a:ext cx="5669280" cy="16916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880360"/>
            <a:ext cx="54864" cy="16916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9718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🔠 ALL-CAPS Usage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832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SPAM messages use far more all-uppercase words (urgency/excitement pattern). This is captured as a feature.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09160"/>
            <a:ext cx="5669280" cy="16916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709160"/>
            <a:ext cx="54864" cy="169164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800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6E3A1"/>
                </a:solidFill>
              </a:rPr>
              <a:t>❗ Exclamation Marks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2120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SPAM messages average 3-4 exclamation marks per message vs near-zero in HAM. High discriminative value.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709160"/>
            <a:ext cx="5669280" cy="16916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709160"/>
            <a:ext cx="54864" cy="16916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800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CC"/>
                </a:solidFill>
              </a:rPr>
              <a:t>📝 Top Spam Words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2120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Most frequent spam tokens: 'free', 'call', 'txt', 'claim', 'prize', 'win', 'mobile', 'text'.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What's Next — Phases 3 to 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3749039" cy="53949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3749039" cy="59436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E2E"/>
                </a:solidFill>
              </a:rPr>
              <a:t>Phase 03: Modelling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train_test_split (stratified, 80/20)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TF-IDF vectorizer inside sklearn Pipeline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Model 1: Multinomial Naive Bayes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Model 2: Logistic Regression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Save models with joblib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051560"/>
            <a:ext cx="3749039" cy="53949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051560"/>
            <a:ext cx="3749039" cy="59436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143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E2E"/>
                </a:solidFill>
              </a:rPr>
              <a:t>Phase 04: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78308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Accuracy, Precision, Recall, F1-score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Confusion matrix heatmaps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ROC-AUC curve comparison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Cross-validation (k=5)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Select best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51560"/>
            <a:ext cx="3749039" cy="53949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51560"/>
            <a:ext cx="3749039" cy="59436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143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E2E"/>
                </a:solidFill>
              </a:rPr>
              <a:t>Phase 05: Report &amp;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Final written report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Prediction demo function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GitHub repository cleanup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Presentation &amp; viva preparation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</a:defRPr>
            </a:pPr>
            <a:r>
              <a:t>• Tag v1.0-final on 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6E3A1"/>
                </a:solidFill>
              </a:rPr>
              <a:t>Current status: Phases 1 &amp; 2 complete — All outputs verified 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